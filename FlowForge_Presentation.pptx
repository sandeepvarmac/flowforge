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sldIdLst>
    <p:sldId id="259" r:id="rId2"/>
    <p:sldId id="260" r:id="rId3"/>
    <p:sldId id="262" r:id="rId4"/>
    <p:sldId id="261" r:id="rId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6FBFF"/>
    <a:srgbClr val="53C5E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4" d="100"/>
          <a:sy n="64" d="100"/>
        </p:scale>
        <p:origin x="1482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6043E2E-917F-4B3B-BFC8-B1202BDDDF32}" type="datetimeFigureOut">
              <a:rPr lang="en-US" smtClean="0"/>
              <a:t>10/31/2025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47A3491-BDB6-4E8C-B343-965F945DA5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24536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Competitive Scripts</a:t>
            </a:r>
          </a:p>
          <a:p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vs </a:t>
            </a:r>
            <a:r>
              <a:rPr lang="en-US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Fivetran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“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Fivetran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excels at SaaS connectors.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FlowForge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excels at custom sources. Plus your data stays in YOUR cloud. Use both.”</a:t>
            </a:r>
          </a:p>
          <a:p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vs </a:t>
            </a:r>
            <a:r>
              <a:rPr lang="en-US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Matillion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“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Matillion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locks you into Snowflake with expensive credits.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FlowForge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is vendor-neutral with flat-rate pricing.”</a:t>
            </a:r>
          </a:p>
          <a:p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vs Informatica: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“Informatica is comprehensive but expensive and slow.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FlowForge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is purpose-built for pipelines. Deploy in 1 week vs 6-12 months.”</a:t>
            </a:r>
          </a:p>
          <a:p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vs DIY Airflow: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“Building takes months and ongoing maintenance.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FlowForge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gives you production-grade orchestration with self-service UI.”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47A3491-BDB6-4E8C-B343-965F945DA59D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788433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jpe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13" Type="http://schemas.openxmlformats.org/officeDocument/2006/relationships/image" Target="../media/image16.svg"/><Relationship Id="rId3" Type="http://schemas.openxmlformats.org/officeDocument/2006/relationships/image" Target="../media/image6.jpeg"/><Relationship Id="rId7" Type="http://schemas.openxmlformats.org/officeDocument/2006/relationships/image" Target="../media/image10.svg"/><Relationship Id="rId12" Type="http://schemas.openxmlformats.org/officeDocument/2006/relationships/image" Target="../media/image15.png"/><Relationship Id="rId2" Type="http://schemas.openxmlformats.org/officeDocument/2006/relationships/image" Target="../media/image2.png"/><Relationship Id="rId16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11" Type="http://schemas.openxmlformats.org/officeDocument/2006/relationships/image" Target="../media/image14.svg"/><Relationship Id="rId5" Type="http://schemas.openxmlformats.org/officeDocument/2006/relationships/image" Target="../media/image8.svg"/><Relationship Id="rId15" Type="http://schemas.openxmlformats.org/officeDocument/2006/relationships/image" Target="../media/image18.svg"/><Relationship Id="rId10" Type="http://schemas.openxmlformats.org/officeDocument/2006/relationships/image" Target="../media/image13.png"/><Relationship Id="rId4" Type="http://schemas.openxmlformats.org/officeDocument/2006/relationships/image" Target="../media/image7.png"/><Relationship Id="rId9" Type="http://schemas.openxmlformats.org/officeDocument/2006/relationships/image" Target="../media/image12.svg"/><Relationship Id="rId14" Type="http://schemas.openxmlformats.org/officeDocument/2006/relationships/image" Target="../media/image1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https://www.slideteam.net/media/catalog/product/cache/1280x720/p/r/problem_solution_cleaning_business_startup_go_to_market_strategy_gtm_ss_slide01.jpg">
            <a:extLst>
              <a:ext uri="{FF2B5EF4-FFF2-40B4-BE49-F238E27FC236}">
                <a16:creationId xmlns:a16="http://schemas.microsoft.com/office/drawing/2014/main" id="{45ABE2B3-5504-4DDF-8DC9-29B4601415D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597"/>
          <a:stretch/>
        </p:blipFill>
        <p:spPr bwMode="auto">
          <a:xfrm>
            <a:off x="0" y="641767"/>
            <a:ext cx="9144000" cy="41869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465487A4-03FE-4759-9E05-0DA90B76BA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2388" y="2136099"/>
            <a:ext cx="3949908" cy="2806908"/>
          </a:xfrm>
          <a:solidFill>
            <a:schemeClr val="bg1"/>
          </a:solidFill>
        </p:spPr>
        <p:txBody>
          <a:bodyPr>
            <a:normAutofit fontScale="85000" lnSpcReduction="10000"/>
          </a:bodyPr>
          <a:lstStyle/>
          <a:p>
            <a:pPr>
              <a:buFont typeface="Wingdings" panose="05000000000000000000" pitchFamily="2" charset="2"/>
              <a:buChar char="ü"/>
              <a:defRPr>
                <a:solidFill>
                  <a:srgbClr val="0066CC"/>
                </a:solidFill>
              </a:defRPr>
            </a:pPr>
            <a:r>
              <a:rPr lang="en-US" sz="2000" b="1" dirty="0">
                <a:latin typeface="Montserrat" panose="00000500000000000000" pitchFamily="50" charset="0"/>
              </a:rPr>
              <a:t>B</a:t>
            </a:r>
            <a:r>
              <a:rPr sz="2000" b="1" dirty="0">
                <a:latin typeface="Montserrat" panose="00000500000000000000" pitchFamily="50" charset="0"/>
              </a:rPr>
              <a:t>acklog</a:t>
            </a:r>
            <a:r>
              <a:rPr lang="en-US" sz="2000" b="1" dirty="0">
                <a:latin typeface="Montserrat" panose="00000500000000000000" pitchFamily="50" charset="0"/>
              </a:rPr>
              <a:t> Delays</a:t>
            </a:r>
            <a:r>
              <a:rPr sz="2000" b="1" dirty="0">
                <a:latin typeface="Montserrat" panose="00000500000000000000" pitchFamily="50" charset="0"/>
              </a:rPr>
              <a:t>: </a:t>
            </a:r>
            <a:r>
              <a:rPr sz="2000" dirty="0">
                <a:latin typeface="Montserrat" panose="00000500000000000000" pitchFamily="50" charset="0"/>
              </a:rPr>
              <a:t>Analysts wait weeks for each pipeline</a:t>
            </a:r>
          </a:p>
          <a:p>
            <a:pPr>
              <a:buFont typeface="Wingdings" panose="05000000000000000000" pitchFamily="2" charset="2"/>
              <a:buChar char="ü"/>
              <a:defRPr>
                <a:solidFill>
                  <a:srgbClr val="0066CC"/>
                </a:solidFill>
              </a:defRPr>
            </a:pPr>
            <a:r>
              <a:rPr lang="en-US" sz="2000" b="1" dirty="0">
                <a:latin typeface="Montserrat" panose="00000500000000000000" pitchFamily="50" charset="0"/>
              </a:rPr>
              <a:t>Disparate </a:t>
            </a:r>
            <a:r>
              <a:rPr sz="2000" b="1" dirty="0">
                <a:latin typeface="Montserrat" panose="00000500000000000000" pitchFamily="50" charset="0"/>
              </a:rPr>
              <a:t>Tool</a:t>
            </a:r>
            <a:r>
              <a:rPr lang="en-US" sz="2000" b="1" dirty="0">
                <a:latin typeface="Montserrat" panose="00000500000000000000" pitchFamily="50" charset="0"/>
              </a:rPr>
              <a:t>s</a:t>
            </a:r>
            <a:r>
              <a:rPr sz="2000" b="1" dirty="0">
                <a:latin typeface="Montserrat" panose="00000500000000000000" pitchFamily="50" charset="0"/>
              </a:rPr>
              <a:t>: </a:t>
            </a:r>
            <a:r>
              <a:rPr sz="2000" dirty="0">
                <a:latin typeface="Montserrat" panose="00000500000000000000" pitchFamily="50" charset="0"/>
              </a:rPr>
              <a:t>Multiple ETL tools, inconsistent approaches</a:t>
            </a:r>
          </a:p>
          <a:p>
            <a:pPr>
              <a:buFont typeface="Wingdings" panose="05000000000000000000" pitchFamily="2" charset="2"/>
              <a:buChar char="ü"/>
              <a:defRPr>
                <a:solidFill>
                  <a:srgbClr val="0066CC"/>
                </a:solidFill>
              </a:defRPr>
            </a:pPr>
            <a:r>
              <a:rPr sz="2000" b="1" dirty="0">
                <a:latin typeface="Montserrat" panose="00000500000000000000" pitchFamily="50" charset="0"/>
              </a:rPr>
              <a:t>Compliance friction: </a:t>
            </a:r>
            <a:r>
              <a:rPr sz="2000" dirty="0">
                <a:latin typeface="Montserrat" panose="00000500000000000000" pitchFamily="50" charset="0"/>
              </a:rPr>
              <a:t>Data residency and audit trail requirements</a:t>
            </a:r>
          </a:p>
          <a:p>
            <a:pPr>
              <a:buFont typeface="Wingdings" panose="05000000000000000000" pitchFamily="2" charset="2"/>
              <a:buChar char="ü"/>
              <a:defRPr>
                <a:solidFill>
                  <a:srgbClr val="0066CC"/>
                </a:solidFill>
              </a:defRPr>
            </a:pPr>
            <a:r>
              <a:rPr sz="2000" b="1" dirty="0">
                <a:latin typeface="Montserrat" panose="00000500000000000000" pitchFamily="50" charset="0"/>
              </a:rPr>
              <a:t>No self-service: </a:t>
            </a:r>
            <a:r>
              <a:rPr sz="2000" dirty="0">
                <a:latin typeface="Montserrat" panose="00000500000000000000" pitchFamily="50" charset="0"/>
              </a:rPr>
              <a:t>Engineers required for every data request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FE7A4751-D325-4635-A9CD-A3BC0A0E9EA0}"/>
              </a:ext>
            </a:extLst>
          </p:cNvPr>
          <p:cNvSpPr txBox="1">
            <a:spLocks/>
          </p:cNvSpPr>
          <p:nvPr/>
        </p:nvSpPr>
        <p:spPr>
          <a:xfrm>
            <a:off x="5381469" y="1761345"/>
            <a:ext cx="3762531" cy="3556416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2000" b="1" dirty="0"/>
          </a:p>
          <a:p>
            <a:pPr>
              <a:buFont typeface="Wingdings" panose="05000000000000000000" pitchFamily="2" charset="2"/>
              <a:buChar char="ü"/>
              <a:defRPr>
                <a:solidFill>
                  <a:srgbClr val="0066CC"/>
                </a:solidFill>
              </a:defRPr>
            </a:pPr>
            <a:r>
              <a:rPr lang="en-US" sz="2000" b="1" dirty="0">
                <a:solidFill>
                  <a:srgbClr val="0066CC"/>
                </a:solidFill>
              </a:rPr>
              <a:t>AI Based Auto Schema Detection </a:t>
            </a:r>
          </a:p>
          <a:p>
            <a:pPr>
              <a:buFont typeface="Wingdings" panose="05000000000000000000" pitchFamily="2" charset="2"/>
              <a:buChar char="ü"/>
              <a:defRPr>
                <a:solidFill>
                  <a:srgbClr val="0066CC"/>
                </a:solidFill>
              </a:defRPr>
            </a:pPr>
            <a:r>
              <a:rPr lang="en-US" sz="2000" b="1" dirty="0">
                <a:solidFill>
                  <a:srgbClr val="0066CC"/>
                </a:solidFill>
              </a:rPr>
              <a:t>No-Code Interface</a:t>
            </a:r>
          </a:p>
          <a:p>
            <a:pPr>
              <a:buFont typeface="Wingdings" panose="05000000000000000000" pitchFamily="2" charset="2"/>
              <a:buChar char="ü"/>
              <a:defRPr>
                <a:solidFill>
                  <a:srgbClr val="0066CC"/>
                </a:solidFill>
              </a:defRPr>
            </a:pPr>
            <a:r>
              <a:rPr lang="en-US" sz="2000" b="1" dirty="0">
                <a:solidFill>
                  <a:srgbClr val="0066CC"/>
                </a:solidFill>
              </a:rPr>
              <a:t>Production Grade Architecture</a:t>
            </a:r>
          </a:p>
          <a:p>
            <a:pPr>
              <a:buFont typeface="Wingdings" panose="05000000000000000000" pitchFamily="2" charset="2"/>
              <a:buChar char="ü"/>
              <a:defRPr>
                <a:solidFill>
                  <a:srgbClr val="0066CC"/>
                </a:solidFill>
              </a:defRPr>
            </a:pPr>
            <a:r>
              <a:rPr lang="en-US" sz="2000" b="1" dirty="0">
                <a:solidFill>
                  <a:srgbClr val="0066CC"/>
                </a:solidFill>
              </a:rPr>
              <a:t>Cloud Based Operations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3B5D2754-A57E-4F8B-954E-7829AD9CFE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34293" y="641767"/>
            <a:ext cx="2488640" cy="1125000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EC0F5FB9-60DF-4372-89C1-5082E6EA8F92}"/>
              </a:ext>
            </a:extLst>
          </p:cNvPr>
          <p:cNvSpPr/>
          <p:nvPr/>
        </p:nvSpPr>
        <p:spPr>
          <a:xfrm>
            <a:off x="6644573" y="1766767"/>
            <a:ext cx="2612575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</a:pPr>
            <a:r>
              <a:rPr lang="en-US" sz="1200" b="1" dirty="0">
                <a:latin typeface="Aptos Display"/>
                <a:ea typeface="Times New Roman" panose="02020603050405020304" pitchFamily="18" charset="0"/>
                <a:cs typeface="Times New Roman" panose="02020603050405020304" pitchFamily="18" charset="0"/>
              </a:rPr>
              <a:t>Modern Data Pipelines in YOUR Cloud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DE67D2A-3067-47A6-B707-3515ADCBDBFE}"/>
              </a:ext>
            </a:extLst>
          </p:cNvPr>
          <p:cNvSpPr txBox="1"/>
          <p:nvPr/>
        </p:nvSpPr>
        <p:spPr>
          <a:xfrm>
            <a:off x="172388" y="4828707"/>
            <a:ext cx="20428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Key Differentiators:</a:t>
            </a:r>
          </a:p>
        </p:txBody>
      </p:sp>
      <p:pic>
        <p:nvPicPr>
          <p:cNvPr id="1028" name="Picture 4" descr="Self Service Glyph Two Color Icon ...">
            <a:extLst>
              <a:ext uri="{FF2B5EF4-FFF2-40B4-BE49-F238E27FC236}">
                <a16:creationId xmlns:a16="http://schemas.microsoft.com/office/drawing/2014/main" id="{8C01C931-C524-4C0D-BA5D-0392DD9FF07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5871" y="5241504"/>
            <a:ext cx="1195835" cy="11958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5" name="Group 14">
            <a:extLst>
              <a:ext uri="{FF2B5EF4-FFF2-40B4-BE49-F238E27FC236}">
                <a16:creationId xmlns:a16="http://schemas.microsoft.com/office/drawing/2014/main" id="{AF034DF5-B5DF-458C-8BB4-9514587752CA}"/>
              </a:ext>
            </a:extLst>
          </p:cNvPr>
          <p:cNvGrpSpPr/>
          <p:nvPr/>
        </p:nvGrpSpPr>
        <p:grpSpPr>
          <a:xfrm>
            <a:off x="2398426" y="5241504"/>
            <a:ext cx="1303676" cy="1303676"/>
            <a:chOff x="2398426" y="5241504"/>
            <a:chExt cx="1303676" cy="1303676"/>
          </a:xfrm>
        </p:grpSpPr>
        <p:pic>
          <p:nvPicPr>
            <p:cNvPr id="1030" name="Picture 6" descr="Cloud - Free nature icons">
              <a:extLst>
                <a:ext uri="{FF2B5EF4-FFF2-40B4-BE49-F238E27FC236}">
                  <a16:creationId xmlns:a16="http://schemas.microsoft.com/office/drawing/2014/main" id="{140D8C2F-3E2D-473F-AB26-BB8BB9AD6BE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398426" y="5241504"/>
              <a:ext cx="1303676" cy="130367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E3A86CC5-6130-4CA2-8CAA-721025090F20}"/>
                </a:ext>
              </a:extLst>
            </p:cNvPr>
            <p:cNvSpPr txBox="1"/>
            <p:nvPr/>
          </p:nvSpPr>
          <p:spPr>
            <a:xfrm>
              <a:off x="2666697" y="5696263"/>
              <a:ext cx="785151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rgbClr val="53C5E9"/>
                  </a:solidFill>
                </a:rPr>
                <a:t>YOUR </a:t>
              </a:r>
            </a:p>
            <a:p>
              <a:r>
                <a:rPr lang="en-US" sz="1400" b="1" dirty="0">
                  <a:solidFill>
                    <a:srgbClr val="53C5E9"/>
                  </a:solidFill>
                </a:rPr>
                <a:t>Cloud</a:t>
              </a:r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8DF5CF55-FD7A-42CE-9AF2-8333FC6C5840}"/>
              </a:ext>
            </a:extLst>
          </p:cNvPr>
          <p:cNvGrpSpPr/>
          <p:nvPr/>
        </p:nvGrpSpPr>
        <p:grpSpPr>
          <a:xfrm>
            <a:off x="4308822" y="5387821"/>
            <a:ext cx="1484025" cy="1329826"/>
            <a:chOff x="4308822" y="5387821"/>
            <a:chExt cx="1484025" cy="1329826"/>
          </a:xfrm>
        </p:grpSpPr>
        <p:pic>
          <p:nvPicPr>
            <p:cNvPr id="1032" name="Picture 8" descr="Vendor-Neutral Cloud Provider ...">
              <a:extLst>
                <a:ext uri="{FF2B5EF4-FFF2-40B4-BE49-F238E27FC236}">
                  <a16:creationId xmlns:a16="http://schemas.microsoft.com/office/drawing/2014/main" id="{471553B7-716D-461A-BC5B-97A8D4678E9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308822" y="5387821"/>
              <a:ext cx="1484025" cy="86023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F136ABA4-56D4-4F45-8B07-07ED546FBD71}"/>
                </a:ext>
              </a:extLst>
            </p:cNvPr>
            <p:cNvSpPr txBox="1"/>
            <p:nvPr/>
          </p:nvSpPr>
          <p:spPr>
            <a:xfrm>
              <a:off x="4676576" y="6132872"/>
              <a:ext cx="929422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rgbClr val="53C5E9"/>
                  </a:solidFill>
                </a:rPr>
                <a:t>Vendor </a:t>
              </a:r>
            </a:p>
            <a:p>
              <a:r>
                <a:rPr lang="en-US" sz="1400" b="1" dirty="0">
                  <a:solidFill>
                    <a:srgbClr val="53C5E9"/>
                  </a:solidFill>
                </a:rPr>
                <a:t>Neutral</a:t>
              </a:r>
            </a:p>
          </p:txBody>
        </p:sp>
      </p:grpSp>
      <p:sp>
        <p:nvSpPr>
          <p:cNvPr id="17" name="Rectangle 16">
            <a:extLst>
              <a:ext uri="{FF2B5EF4-FFF2-40B4-BE49-F238E27FC236}">
                <a16:creationId xmlns:a16="http://schemas.microsoft.com/office/drawing/2014/main" id="{2FD3A43E-69F1-4EBA-BA68-6D65C9D379F0}"/>
              </a:ext>
            </a:extLst>
          </p:cNvPr>
          <p:cNvSpPr/>
          <p:nvPr/>
        </p:nvSpPr>
        <p:spPr>
          <a:xfrm>
            <a:off x="0" y="715211"/>
            <a:ext cx="2070154" cy="1280160"/>
          </a:xfrm>
          <a:prstGeom prst="rect">
            <a:avLst/>
          </a:prstGeom>
          <a:solidFill>
            <a:srgbClr val="F6FBFF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99641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4A12A3E-BB1B-4C3A-A5C1-89A9F0FD92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9723"/>
            <a:ext cx="1106671" cy="500276"/>
          </a:xfrm>
          <a:prstGeom prst="rect">
            <a:avLst/>
          </a:prstGeom>
        </p:spPr>
      </p:pic>
      <p:sp>
        <p:nvSpPr>
          <p:cNvPr id="33" name="Rectangle 32">
            <a:extLst>
              <a:ext uri="{FF2B5EF4-FFF2-40B4-BE49-F238E27FC236}">
                <a16:creationId xmlns:a16="http://schemas.microsoft.com/office/drawing/2014/main" id="{9D0FF59B-94BC-4C12-9F24-542A445190FA}"/>
              </a:ext>
            </a:extLst>
          </p:cNvPr>
          <p:cNvSpPr/>
          <p:nvPr/>
        </p:nvSpPr>
        <p:spPr>
          <a:xfrm>
            <a:off x="94997" y="5851338"/>
            <a:ext cx="8954005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b="1" dirty="0"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Platform Components:</a:t>
            </a:r>
            <a:r>
              <a:rPr lang="en-US" sz="1400" dirty="0"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 • Web application (Next.js) • Prefect orchestration server • PostgreSQL metadata database • Object storage (S3/ADLS/GCS) • Prefect workers (containerized)</a:t>
            </a:r>
          </a:p>
          <a:p>
            <a:r>
              <a:rPr lang="en-US" sz="1400" b="1" dirty="0"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Data Flow: </a:t>
            </a:r>
            <a:r>
              <a:rPr lang="en-US" sz="1400" dirty="0"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Files → Landing → Bronze → Silver → Gold → Warehouse</a:t>
            </a:r>
          </a:p>
          <a:p>
            <a:r>
              <a:rPr lang="en-US" sz="1400" b="1" dirty="0"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Deployment:</a:t>
            </a:r>
            <a:r>
              <a:rPr lang="en-US" sz="1400" dirty="0"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 Docker containers in your cloud (ECS/AKS/GKE)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3960D80C-D11A-472F-B15A-C1FE415D0D52}"/>
              </a:ext>
            </a:extLst>
          </p:cNvPr>
          <p:cNvSpPr txBox="1"/>
          <p:nvPr/>
        </p:nvSpPr>
        <p:spPr>
          <a:xfrm>
            <a:off x="94997" y="5597179"/>
            <a:ext cx="183011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u="sng" dirty="0"/>
              <a:t>Technical Architecture</a:t>
            </a:r>
          </a:p>
        </p:txBody>
      </p:sp>
      <p:grpSp>
        <p:nvGrpSpPr>
          <p:cNvPr id="2049" name="Group 2048">
            <a:extLst>
              <a:ext uri="{FF2B5EF4-FFF2-40B4-BE49-F238E27FC236}">
                <a16:creationId xmlns:a16="http://schemas.microsoft.com/office/drawing/2014/main" id="{451237EF-5124-4EC6-9A34-7777ED19D1F9}"/>
              </a:ext>
            </a:extLst>
          </p:cNvPr>
          <p:cNvGrpSpPr/>
          <p:nvPr/>
        </p:nvGrpSpPr>
        <p:grpSpPr>
          <a:xfrm>
            <a:off x="1010055" y="109723"/>
            <a:ext cx="7933693" cy="5376313"/>
            <a:chOff x="930815" y="374754"/>
            <a:chExt cx="7933693" cy="5376313"/>
          </a:xfrm>
        </p:grpSpPr>
        <p:sp>
          <p:nvSpPr>
            <p:cNvPr id="61" name="Rectangle: Rounded Corners 60">
              <a:extLst>
                <a:ext uri="{FF2B5EF4-FFF2-40B4-BE49-F238E27FC236}">
                  <a16:creationId xmlns:a16="http://schemas.microsoft.com/office/drawing/2014/main" id="{096C4BEA-50FE-40BA-8BA8-97C7337DA810}"/>
                </a:ext>
              </a:extLst>
            </p:cNvPr>
            <p:cNvSpPr/>
            <p:nvPr/>
          </p:nvSpPr>
          <p:spPr>
            <a:xfrm>
              <a:off x="930815" y="374754"/>
              <a:ext cx="7933693" cy="5376313"/>
            </a:xfrm>
            <a:prstGeom prst="roundRect">
              <a:avLst/>
            </a:prstGeom>
            <a:solidFill>
              <a:srgbClr val="0070C0"/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44" name="Group 43">
              <a:extLst>
                <a:ext uri="{FF2B5EF4-FFF2-40B4-BE49-F238E27FC236}">
                  <a16:creationId xmlns:a16="http://schemas.microsoft.com/office/drawing/2014/main" id="{6C05CD58-1C36-447F-B34C-542F9F6A3AA3}"/>
                </a:ext>
              </a:extLst>
            </p:cNvPr>
            <p:cNvGrpSpPr/>
            <p:nvPr/>
          </p:nvGrpSpPr>
          <p:grpSpPr>
            <a:xfrm>
              <a:off x="1106671" y="530926"/>
              <a:ext cx="7757837" cy="3697786"/>
              <a:chOff x="781500" y="1558978"/>
              <a:chExt cx="7757837" cy="3697786"/>
            </a:xfrm>
          </p:grpSpPr>
          <p:sp>
            <p:nvSpPr>
              <p:cNvPr id="43" name="Oval 42">
                <a:extLst>
                  <a:ext uri="{FF2B5EF4-FFF2-40B4-BE49-F238E27FC236}">
                    <a16:creationId xmlns:a16="http://schemas.microsoft.com/office/drawing/2014/main" id="{2172BBDE-CA98-41B8-8903-88E941ECD725}"/>
                  </a:ext>
                </a:extLst>
              </p:cNvPr>
              <p:cNvSpPr/>
              <p:nvPr/>
            </p:nvSpPr>
            <p:spPr>
              <a:xfrm>
                <a:off x="2248525" y="1558978"/>
                <a:ext cx="4352204" cy="3697786"/>
              </a:xfrm>
              <a:prstGeom prst="ellipse">
                <a:avLst/>
              </a:prstGeom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445D39D6-3965-4B44-A9DD-8BA522A5D4E8}"/>
                  </a:ext>
                </a:extLst>
              </p:cNvPr>
              <p:cNvSpPr txBox="1"/>
              <p:nvPr/>
            </p:nvSpPr>
            <p:spPr>
              <a:xfrm>
                <a:off x="1273801" y="1859581"/>
                <a:ext cx="179209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b="1" dirty="0">
                    <a:solidFill>
                      <a:schemeClr val="bg1"/>
                    </a:solidFill>
                  </a:rPr>
                  <a:t>AI Configuration</a:t>
                </a:r>
                <a:r>
                  <a:rPr lang="en-US" dirty="0">
                    <a:solidFill>
                      <a:schemeClr val="bg1"/>
                    </a:solidFill>
                  </a:rPr>
                  <a:t> </a:t>
                </a:r>
              </a:p>
            </p:txBody>
          </p:sp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8CD9B274-E11C-43A1-8060-1D0B03C67B11}"/>
                  </a:ext>
                </a:extLst>
              </p:cNvPr>
              <p:cNvSpPr txBox="1"/>
              <p:nvPr/>
            </p:nvSpPr>
            <p:spPr>
              <a:xfrm>
                <a:off x="781500" y="3137574"/>
                <a:ext cx="157966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b="1" dirty="0">
                    <a:solidFill>
                      <a:schemeClr val="bg1"/>
                    </a:solidFill>
                  </a:rPr>
                  <a:t>File Processing</a:t>
                </a:r>
                <a:endParaRPr lang="en-US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D05EA017-6A31-40BF-A5E7-34B23E3F84AA}"/>
                  </a:ext>
                </a:extLst>
              </p:cNvPr>
              <p:cNvSpPr txBox="1"/>
              <p:nvPr/>
            </p:nvSpPr>
            <p:spPr>
              <a:xfrm>
                <a:off x="1259399" y="4487612"/>
                <a:ext cx="149412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b="1" dirty="0">
                    <a:solidFill>
                      <a:schemeClr val="bg1"/>
                    </a:solidFill>
                  </a:rPr>
                  <a:t>Orchestration</a:t>
                </a:r>
                <a:endParaRPr lang="en-US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36BE2717-F15B-4B9F-91A5-3152EC0345C9}"/>
                  </a:ext>
                </a:extLst>
              </p:cNvPr>
              <p:cNvSpPr txBox="1"/>
              <p:nvPr/>
            </p:nvSpPr>
            <p:spPr>
              <a:xfrm>
                <a:off x="5919390" y="1876145"/>
                <a:ext cx="126124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b="1" dirty="0">
                    <a:solidFill>
                      <a:schemeClr val="bg1"/>
                    </a:solidFill>
                  </a:rPr>
                  <a:t>Monitoring</a:t>
                </a:r>
                <a:endParaRPr lang="en-US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93DC0A4E-8F98-4262-A3D4-7FFAB44C17C2}"/>
                  </a:ext>
                </a:extLst>
              </p:cNvPr>
              <p:cNvSpPr txBox="1"/>
              <p:nvPr/>
            </p:nvSpPr>
            <p:spPr>
              <a:xfrm>
                <a:off x="6600729" y="3127764"/>
                <a:ext cx="193860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b="1" dirty="0">
                    <a:solidFill>
                      <a:schemeClr val="bg1"/>
                    </a:solidFill>
                  </a:rPr>
                  <a:t>Metadata Catalog</a:t>
                </a:r>
                <a:r>
                  <a:rPr lang="en-US" dirty="0">
                    <a:solidFill>
                      <a:schemeClr val="bg1"/>
                    </a:solidFill>
                  </a:rPr>
                  <a:t> </a:t>
                </a:r>
              </a:p>
            </p:txBody>
          </p:sp>
          <p:grpSp>
            <p:nvGrpSpPr>
              <p:cNvPr id="14" name="Group 13">
                <a:extLst>
                  <a:ext uri="{FF2B5EF4-FFF2-40B4-BE49-F238E27FC236}">
                    <a16:creationId xmlns:a16="http://schemas.microsoft.com/office/drawing/2014/main" id="{53ED5CC5-12FD-4003-86DB-B0F202784C14}"/>
                  </a:ext>
                </a:extLst>
              </p:cNvPr>
              <p:cNvGrpSpPr/>
              <p:nvPr/>
            </p:nvGrpSpPr>
            <p:grpSpPr>
              <a:xfrm>
                <a:off x="2891378" y="2074768"/>
                <a:ext cx="3028012" cy="2518348"/>
                <a:chOff x="3432748" y="3703274"/>
                <a:chExt cx="3028012" cy="2518348"/>
              </a:xfrm>
            </p:grpSpPr>
            <p:sp>
              <p:nvSpPr>
                <p:cNvPr id="8" name="Oval 7">
                  <a:extLst>
                    <a:ext uri="{FF2B5EF4-FFF2-40B4-BE49-F238E27FC236}">
                      <a16:creationId xmlns:a16="http://schemas.microsoft.com/office/drawing/2014/main" id="{A9B33E32-08A8-4876-8DE0-68E6BC1E7DC6}"/>
                    </a:ext>
                  </a:extLst>
                </p:cNvPr>
                <p:cNvSpPr/>
                <p:nvPr/>
              </p:nvSpPr>
              <p:spPr>
                <a:xfrm>
                  <a:off x="3432748" y="3703274"/>
                  <a:ext cx="3028012" cy="2518348"/>
                </a:xfrm>
                <a:prstGeom prst="ellipse">
                  <a:avLst/>
                </a:prstGeom>
                <a:solidFill>
                  <a:schemeClr val="bg1"/>
                </a:solidFill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025173ED-4D7D-4535-8A0B-67D8B340DEF7}"/>
                    </a:ext>
                  </a:extLst>
                </p:cNvPr>
                <p:cNvSpPr txBox="1"/>
                <p:nvPr/>
              </p:nvSpPr>
              <p:spPr>
                <a:xfrm>
                  <a:off x="4523352" y="5602184"/>
                  <a:ext cx="1028167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200" b="1" dirty="0"/>
                    <a:t>How it works</a:t>
                  </a:r>
                </a:p>
              </p:txBody>
            </p:sp>
            <p:pic>
              <p:nvPicPr>
                <p:cNvPr id="2050" name="Picture 2" descr="Medallion Architecture in Databricks ...">
                  <a:extLst>
                    <a:ext uri="{FF2B5EF4-FFF2-40B4-BE49-F238E27FC236}">
                      <a16:creationId xmlns:a16="http://schemas.microsoft.com/office/drawing/2014/main" id="{256ED435-40AC-40E2-BC50-FD31E4261E40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3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3814520" y="4258048"/>
                  <a:ext cx="2292890" cy="1288313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</p:grpSp>
          <p:cxnSp>
            <p:nvCxnSpPr>
              <p:cNvPr id="16" name="Straight Connector 15">
                <a:extLst>
                  <a:ext uri="{FF2B5EF4-FFF2-40B4-BE49-F238E27FC236}">
                    <a16:creationId xmlns:a16="http://schemas.microsoft.com/office/drawing/2014/main" id="{89E1302A-93E8-4903-8F80-29120A32E525}"/>
                  </a:ext>
                </a:extLst>
              </p:cNvPr>
              <p:cNvCxnSpPr>
                <a:cxnSpLocks/>
                <a:stCxn id="8" idx="6"/>
              </p:cNvCxnSpPr>
              <p:nvPr/>
            </p:nvCxnSpPr>
            <p:spPr>
              <a:xfrm>
                <a:off x="5919390" y="3333942"/>
                <a:ext cx="630621" cy="0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" name="Straight Connector 18">
                <a:extLst>
                  <a:ext uri="{FF2B5EF4-FFF2-40B4-BE49-F238E27FC236}">
                    <a16:creationId xmlns:a16="http://schemas.microsoft.com/office/drawing/2014/main" id="{09BCFD03-56C4-43B3-8CAF-D9A0360572C2}"/>
                  </a:ext>
                </a:extLst>
              </p:cNvPr>
              <p:cNvCxnSpPr>
                <a:cxnSpLocks/>
                <a:stCxn id="8" idx="5"/>
              </p:cNvCxnSpPr>
              <p:nvPr/>
            </p:nvCxnSpPr>
            <p:spPr>
              <a:xfrm>
                <a:off x="5475948" y="4224312"/>
                <a:ext cx="758752" cy="226876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" name="Straight Connector 20">
                <a:extLst>
                  <a:ext uri="{FF2B5EF4-FFF2-40B4-BE49-F238E27FC236}">
                    <a16:creationId xmlns:a16="http://schemas.microsoft.com/office/drawing/2014/main" id="{D8AF2CE7-1702-409A-91B2-B651C3FDD406}"/>
                  </a:ext>
                </a:extLst>
              </p:cNvPr>
              <p:cNvCxnSpPr>
                <a:cxnSpLocks/>
                <a:stCxn id="8" idx="7"/>
              </p:cNvCxnSpPr>
              <p:nvPr/>
            </p:nvCxnSpPr>
            <p:spPr>
              <a:xfrm flipV="1">
                <a:off x="5475948" y="2180667"/>
                <a:ext cx="443442" cy="262905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" name="Straight Connector 24">
                <a:extLst>
                  <a:ext uri="{FF2B5EF4-FFF2-40B4-BE49-F238E27FC236}">
                    <a16:creationId xmlns:a16="http://schemas.microsoft.com/office/drawing/2014/main" id="{33FEBB87-829D-48D8-ABF5-882A761D2A57}"/>
                  </a:ext>
                </a:extLst>
              </p:cNvPr>
              <p:cNvCxnSpPr>
                <a:cxnSpLocks/>
                <a:endCxn id="8" idx="1"/>
              </p:cNvCxnSpPr>
              <p:nvPr/>
            </p:nvCxnSpPr>
            <p:spPr>
              <a:xfrm>
                <a:off x="2891378" y="2245477"/>
                <a:ext cx="443442" cy="198095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Straight Connector 27">
                <a:extLst>
                  <a:ext uri="{FF2B5EF4-FFF2-40B4-BE49-F238E27FC236}">
                    <a16:creationId xmlns:a16="http://schemas.microsoft.com/office/drawing/2014/main" id="{D1CF5451-D93B-4720-B3C2-4411D755BECD}"/>
                  </a:ext>
                </a:extLst>
              </p:cNvPr>
              <p:cNvCxnSpPr>
                <a:cxnSpLocks/>
                <a:endCxn id="8" idx="2"/>
              </p:cNvCxnSpPr>
              <p:nvPr/>
            </p:nvCxnSpPr>
            <p:spPr>
              <a:xfrm>
                <a:off x="2386522" y="3333942"/>
                <a:ext cx="504856" cy="0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Straight Connector 30">
                <a:extLst>
                  <a:ext uri="{FF2B5EF4-FFF2-40B4-BE49-F238E27FC236}">
                    <a16:creationId xmlns:a16="http://schemas.microsoft.com/office/drawing/2014/main" id="{DFFE9D12-8787-4C97-9841-B2CC2E3A8C94}"/>
                  </a:ext>
                </a:extLst>
              </p:cNvPr>
              <p:cNvCxnSpPr>
                <a:cxnSpLocks/>
                <a:endCxn id="8" idx="3"/>
              </p:cNvCxnSpPr>
              <p:nvPr/>
            </p:nvCxnSpPr>
            <p:spPr>
              <a:xfrm flipV="1">
                <a:off x="2903297" y="4224312"/>
                <a:ext cx="431523" cy="303682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7E5DB25F-64D4-4C04-BAAD-249906A57B16}"/>
                  </a:ext>
                </a:extLst>
              </p:cNvPr>
              <p:cNvSpPr txBox="1"/>
              <p:nvPr/>
            </p:nvSpPr>
            <p:spPr>
              <a:xfrm>
                <a:off x="6623601" y="4389480"/>
                <a:ext cx="164731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b="1" dirty="0">
                    <a:solidFill>
                      <a:schemeClr val="bg1"/>
                    </a:solidFill>
                  </a:rPr>
                  <a:t>Vendor Neutral</a:t>
                </a:r>
                <a:endParaRPr lang="en-US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35" name="Rectangle 34">
                <a:extLst>
                  <a:ext uri="{FF2B5EF4-FFF2-40B4-BE49-F238E27FC236}">
                    <a16:creationId xmlns:a16="http://schemas.microsoft.com/office/drawing/2014/main" id="{A77F2444-11CB-4B8B-834B-5B2FC609120D}"/>
                  </a:ext>
                </a:extLst>
              </p:cNvPr>
              <p:cNvSpPr/>
              <p:nvPr/>
            </p:nvSpPr>
            <p:spPr>
              <a:xfrm>
                <a:off x="3661246" y="4697524"/>
                <a:ext cx="1401409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>
                  <a:spcBef>
                    <a:spcPts val="800"/>
                  </a:spcBef>
                  <a:spcAft>
                    <a:spcPts val="400"/>
                  </a:spcAft>
                </a:pPr>
                <a:r>
                  <a:rPr lang="en-US" b="1" dirty="0">
                    <a:solidFill>
                      <a:schemeClr val="bg1"/>
                    </a:solidFill>
                    <a:latin typeface="Aptos Display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Key Features</a:t>
                </a:r>
              </a:p>
            </p:txBody>
          </p:sp>
        </p:grpSp>
        <p:grpSp>
          <p:nvGrpSpPr>
            <p:cNvPr id="60" name="Group 59">
              <a:extLst>
                <a:ext uri="{FF2B5EF4-FFF2-40B4-BE49-F238E27FC236}">
                  <a16:creationId xmlns:a16="http://schemas.microsoft.com/office/drawing/2014/main" id="{39CFE6BC-7496-482F-B3C9-185FDF8AE868}"/>
                </a:ext>
              </a:extLst>
            </p:cNvPr>
            <p:cNvGrpSpPr/>
            <p:nvPr/>
          </p:nvGrpSpPr>
          <p:grpSpPr>
            <a:xfrm>
              <a:off x="2185453" y="4458236"/>
              <a:ext cx="5271565" cy="1278393"/>
              <a:chOff x="1692301" y="4174605"/>
              <a:chExt cx="5728764" cy="1609979"/>
            </a:xfrm>
          </p:grpSpPr>
          <p:grpSp>
            <p:nvGrpSpPr>
              <p:cNvPr id="48" name="Group 47">
                <a:extLst>
                  <a:ext uri="{FF2B5EF4-FFF2-40B4-BE49-F238E27FC236}">
                    <a16:creationId xmlns:a16="http://schemas.microsoft.com/office/drawing/2014/main" id="{760F5A00-08DC-4B39-99D4-A71D241FFD82}"/>
                  </a:ext>
                </a:extLst>
              </p:cNvPr>
              <p:cNvGrpSpPr/>
              <p:nvPr/>
            </p:nvGrpSpPr>
            <p:grpSpPr>
              <a:xfrm>
                <a:off x="1692301" y="4203235"/>
                <a:ext cx="1878397" cy="1323715"/>
                <a:chOff x="1311978" y="4216128"/>
                <a:chExt cx="1878397" cy="1323715"/>
              </a:xfrm>
            </p:grpSpPr>
            <p:pic>
              <p:nvPicPr>
                <p:cNvPr id="46" name="Graphic 45" descr="Male profile">
                  <a:extLst>
                    <a:ext uri="{FF2B5EF4-FFF2-40B4-BE49-F238E27FC236}">
                      <a16:creationId xmlns:a16="http://schemas.microsoft.com/office/drawing/2014/main" id="{97D0ED64-5377-432B-8FDD-B62E5362F86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">
                  <a:extLst>
                    <a:ext uri="{96DAC541-7B7A-43D3-8B79-37D633B846F1}">
                      <asvg:svgBlip xmlns:asvg="http://schemas.microsoft.com/office/drawing/2016/SVG/main" r:embed="rId5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719022" y="4216128"/>
                  <a:ext cx="914400" cy="914400"/>
                </a:xfrm>
                <a:prstGeom prst="rect">
                  <a:avLst/>
                </a:prstGeom>
              </p:spPr>
            </p:pic>
            <p:sp>
              <p:nvSpPr>
                <p:cNvPr id="47" name="TextBox 46">
                  <a:extLst>
                    <a:ext uri="{FF2B5EF4-FFF2-40B4-BE49-F238E27FC236}">
                      <a16:creationId xmlns:a16="http://schemas.microsoft.com/office/drawing/2014/main" id="{C31F6AFE-55CF-4232-9C44-DB68C6FBE521}"/>
                    </a:ext>
                  </a:extLst>
                </p:cNvPr>
                <p:cNvSpPr txBox="1"/>
                <p:nvPr/>
              </p:nvSpPr>
              <p:spPr>
                <a:xfrm>
                  <a:off x="1311978" y="5074715"/>
                  <a:ext cx="1878397" cy="465128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dirty="0">
                      <a:solidFill>
                        <a:schemeClr val="bg1"/>
                      </a:solidFill>
                    </a:rPr>
                    <a:t>Business Analyst</a:t>
                  </a:r>
                </a:p>
              </p:txBody>
            </p:sp>
          </p:grpSp>
          <p:grpSp>
            <p:nvGrpSpPr>
              <p:cNvPr id="49" name="Group 48">
                <a:extLst>
                  <a:ext uri="{FF2B5EF4-FFF2-40B4-BE49-F238E27FC236}">
                    <a16:creationId xmlns:a16="http://schemas.microsoft.com/office/drawing/2014/main" id="{86E8CA33-0995-4F0D-926F-86B0A140039D}"/>
                  </a:ext>
                </a:extLst>
              </p:cNvPr>
              <p:cNvGrpSpPr/>
              <p:nvPr/>
            </p:nvGrpSpPr>
            <p:grpSpPr>
              <a:xfrm>
                <a:off x="3886029" y="4456982"/>
                <a:ext cx="1725725" cy="1327602"/>
                <a:chOff x="2383186" y="4386435"/>
                <a:chExt cx="1725725" cy="1327602"/>
              </a:xfrm>
            </p:grpSpPr>
            <p:grpSp>
              <p:nvGrpSpPr>
                <p:cNvPr id="50" name="Group 49">
                  <a:extLst>
                    <a:ext uri="{FF2B5EF4-FFF2-40B4-BE49-F238E27FC236}">
                      <a16:creationId xmlns:a16="http://schemas.microsoft.com/office/drawing/2014/main" id="{748EE0EE-20EA-4B75-83B6-5BCCC60F335B}"/>
                    </a:ext>
                  </a:extLst>
                </p:cNvPr>
                <p:cNvGrpSpPr/>
                <p:nvPr/>
              </p:nvGrpSpPr>
              <p:grpSpPr>
                <a:xfrm>
                  <a:off x="2383186" y="4386435"/>
                  <a:ext cx="1725725" cy="1327602"/>
                  <a:chOff x="1116498" y="4212240"/>
                  <a:chExt cx="1725725" cy="1327602"/>
                </a:xfrm>
              </p:grpSpPr>
              <p:pic>
                <p:nvPicPr>
                  <p:cNvPr id="51" name="Graphic 50" descr="Male profile">
                    <a:extLst>
                      <a:ext uri="{FF2B5EF4-FFF2-40B4-BE49-F238E27FC236}">
                        <a16:creationId xmlns:a16="http://schemas.microsoft.com/office/drawing/2014/main" id="{012143C6-DFFC-4F41-8A97-AC9B2FDDD494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4">
                    <a:extLst>
                      <a:ext uri="{96DAC541-7B7A-43D3-8B79-37D633B846F1}">
                        <asvg:svgBlip xmlns:asvg="http://schemas.microsoft.com/office/drawing/2016/SVG/main" r:embed="rId5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1719022" y="4212240"/>
                    <a:ext cx="914400" cy="914400"/>
                  </a:xfrm>
                  <a:prstGeom prst="rect">
                    <a:avLst/>
                  </a:prstGeom>
                </p:spPr>
              </p:pic>
              <p:sp>
                <p:nvSpPr>
                  <p:cNvPr id="52" name="TextBox 51">
                    <a:extLst>
                      <a:ext uri="{FF2B5EF4-FFF2-40B4-BE49-F238E27FC236}">
                        <a16:creationId xmlns:a16="http://schemas.microsoft.com/office/drawing/2014/main" id="{C1601C48-43A4-4665-8CC0-35EE2D31FB7A}"/>
                      </a:ext>
                    </a:extLst>
                  </p:cNvPr>
                  <p:cNvSpPr txBox="1"/>
                  <p:nvPr/>
                </p:nvSpPr>
                <p:spPr>
                  <a:xfrm>
                    <a:off x="1116498" y="5074714"/>
                    <a:ext cx="1725725" cy="465128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dirty="0">
                        <a:solidFill>
                          <a:schemeClr val="bg1"/>
                        </a:solidFill>
                      </a:rPr>
                      <a:t>Data Engineers</a:t>
                    </a:r>
                  </a:p>
                </p:txBody>
              </p:sp>
            </p:grpSp>
            <p:pic>
              <p:nvPicPr>
                <p:cNvPr id="53" name="Graphic 52" descr="Male profile">
                  <a:extLst>
                    <a:ext uri="{FF2B5EF4-FFF2-40B4-BE49-F238E27FC236}">
                      <a16:creationId xmlns:a16="http://schemas.microsoft.com/office/drawing/2014/main" id="{C33725CD-9D0C-48BA-9FD7-9F040E791959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">
                  <a:extLst>
                    <a:ext uri="{96DAC541-7B7A-43D3-8B79-37D633B846F1}">
                      <asvg:svgBlip xmlns:asvg="http://schemas.microsoft.com/office/drawing/2016/SVG/main" r:embed="rId5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2532787" y="4391986"/>
                  <a:ext cx="914400" cy="914400"/>
                </a:xfrm>
                <a:prstGeom prst="rect">
                  <a:avLst/>
                </a:prstGeom>
              </p:spPr>
            </p:pic>
          </p:grpSp>
          <p:grpSp>
            <p:nvGrpSpPr>
              <p:cNvPr id="55" name="Group 54">
                <a:extLst>
                  <a:ext uri="{FF2B5EF4-FFF2-40B4-BE49-F238E27FC236}">
                    <a16:creationId xmlns:a16="http://schemas.microsoft.com/office/drawing/2014/main" id="{0C460013-138F-46B3-A737-0F34CD22FD6E}"/>
                  </a:ext>
                </a:extLst>
              </p:cNvPr>
              <p:cNvGrpSpPr/>
              <p:nvPr/>
            </p:nvGrpSpPr>
            <p:grpSpPr>
              <a:xfrm>
                <a:off x="6000166" y="4174605"/>
                <a:ext cx="1420899" cy="1323715"/>
                <a:chOff x="2532787" y="4390323"/>
                <a:chExt cx="1420899" cy="1323715"/>
              </a:xfrm>
            </p:grpSpPr>
            <p:grpSp>
              <p:nvGrpSpPr>
                <p:cNvPr id="56" name="Group 55">
                  <a:extLst>
                    <a:ext uri="{FF2B5EF4-FFF2-40B4-BE49-F238E27FC236}">
                      <a16:creationId xmlns:a16="http://schemas.microsoft.com/office/drawing/2014/main" id="{AF75FFB7-BD16-4B16-974C-E88A3FF0B0CC}"/>
                    </a:ext>
                  </a:extLst>
                </p:cNvPr>
                <p:cNvGrpSpPr/>
                <p:nvPr/>
              </p:nvGrpSpPr>
              <p:grpSpPr>
                <a:xfrm>
                  <a:off x="2578666" y="4390323"/>
                  <a:ext cx="1375020" cy="1323715"/>
                  <a:chOff x="1311978" y="4216128"/>
                  <a:chExt cx="1375020" cy="1323715"/>
                </a:xfrm>
              </p:grpSpPr>
              <p:pic>
                <p:nvPicPr>
                  <p:cNvPr id="58" name="Graphic 57" descr="Male profile">
                    <a:extLst>
                      <a:ext uri="{FF2B5EF4-FFF2-40B4-BE49-F238E27FC236}">
                        <a16:creationId xmlns:a16="http://schemas.microsoft.com/office/drawing/2014/main" id="{65512324-9405-4559-9A66-94E7E22B7A19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4">
                    <a:extLst>
                      <a:ext uri="{96DAC541-7B7A-43D3-8B79-37D633B846F1}">
                        <asvg:svgBlip xmlns:asvg="http://schemas.microsoft.com/office/drawing/2016/SVG/main" r:embed="rId5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1719022" y="4216128"/>
                    <a:ext cx="914400" cy="914400"/>
                  </a:xfrm>
                  <a:prstGeom prst="rect">
                    <a:avLst/>
                  </a:prstGeom>
                </p:spPr>
              </p:pic>
              <p:sp>
                <p:nvSpPr>
                  <p:cNvPr id="59" name="TextBox 58">
                    <a:extLst>
                      <a:ext uri="{FF2B5EF4-FFF2-40B4-BE49-F238E27FC236}">
                        <a16:creationId xmlns:a16="http://schemas.microsoft.com/office/drawing/2014/main" id="{AE52DF29-5D5B-41D1-B677-0C26007FE87D}"/>
                      </a:ext>
                    </a:extLst>
                  </p:cNvPr>
                  <p:cNvSpPr txBox="1"/>
                  <p:nvPr/>
                </p:nvSpPr>
                <p:spPr>
                  <a:xfrm>
                    <a:off x="1311978" y="5074715"/>
                    <a:ext cx="1375020" cy="465128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dirty="0">
                        <a:solidFill>
                          <a:schemeClr val="bg1"/>
                        </a:solidFill>
                      </a:rPr>
                      <a:t>Data Teams</a:t>
                    </a:r>
                  </a:p>
                </p:txBody>
              </p:sp>
            </p:grpSp>
            <p:pic>
              <p:nvPicPr>
                <p:cNvPr id="57" name="Graphic 56" descr="Male profile">
                  <a:extLst>
                    <a:ext uri="{FF2B5EF4-FFF2-40B4-BE49-F238E27FC236}">
                      <a16:creationId xmlns:a16="http://schemas.microsoft.com/office/drawing/2014/main" id="{A7866848-B125-48FD-9943-AE1C5ACB50E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">
                  <a:extLst>
                    <a:ext uri="{96DAC541-7B7A-43D3-8B79-37D633B846F1}">
                      <asvg:svgBlip xmlns:asvg="http://schemas.microsoft.com/office/drawing/2016/SVG/main" r:embed="rId5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2532787" y="4391986"/>
                  <a:ext cx="914400" cy="914400"/>
                </a:xfrm>
                <a:prstGeom prst="rect">
                  <a:avLst/>
                </a:prstGeom>
              </p:spPr>
            </p:pic>
          </p:grpSp>
        </p:grp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664A6F17-DDD6-4A7C-91FA-7E8E97B8BF9B}"/>
                </a:ext>
              </a:extLst>
            </p:cNvPr>
            <p:cNvCxnSpPr/>
            <p:nvPr/>
          </p:nvCxnSpPr>
          <p:spPr>
            <a:xfrm>
              <a:off x="930815" y="4323614"/>
              <a:ext cx="7933693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048" name="TextBox 2047">
              <a:extLst>
                <a:ext uri="{FF2B5EF4-FFF2-40B4-BE49-F238E27FC236}">
                  <a16:creationId xmlns:a16="http://schemas.microsoft.com/office/drawing/2014/main" id="{B10A4339-9545-4869-A5FF-DBA738B41273}"/>
                </a:ext>
              </a:extLst>
            </p:cNvPr>
            <p:cNvSpPr txBox="1"/>
            <p:nvPr/>
          </p:nvSpPr>
          <p:spPr>
            <a:xfrm>
              <a:off x="1000208" y="4011543"/>
              <a:ext cx="71243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chemeClr val="bg1"/>
                  </a:solidFill>
                </a:rPr>
                <a:t>Users</a:t>
              </a:r>
            </a:p>
          </p:txBody>
        </p:sp>
      </p:grpSp>
      <p:pic>
        <p:nvPicPr>
          <p:cNvPr id="2052" name="Graphic 2051" descr="Robot">
            <a:extLst>
              <a:ext uri="{FF2B5EF4-FFF2-40B4-BE49-F238E27FC236}">
                <a16:creationId xmlns:a16="http://schemas.microsoft.com/office/drawing/2014/main" id="{42E51B60-6C2B-44B6-A5CB-34F11F113FA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220301" y="79676"/>
            <a:ext cx="598287" cy="598287"/>
          </a:xfrm>
          <a:prstGeom prst="rect">
            <a:avLst/>
          </a:prstGeom>
        </p:spPr>
      </p:pic>
      <p:pic>
        <p:nvPicPr>
          <p:cNvPr id="2054" name="Graphic 2053" descr="Monitor">
            <a:extLst>
              <a:ext uri="{FF2B5EF4-FFF2-40B4-BE49-F238E27FC236}">
                <a16:creationId xmlns:a16="http://schemas.microsoft.com/office/drawing/2014/main" id="{6AFE16E5-36EF-4AF7-875B-6BD0D2020B28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572745" y="134911"/>
            <a:ext cx="582392" cy="582392"/>
          </a:xfrm>
          <a:prstGeom prst="rect">
            <a:avLst/>
          </a:prstGeom>
        </p:spPr>
      </p:pic>
      <p:pic>
        <p:nvPicPr>
          <p:cNvPr id="2056" name="Graphic 2055" descr="Database">
            <a:extLst>
              <a:ext uri="{FF2B5EF4-FFF2-40B4-BE49-F238E27FC236}">
                <a16:creationId xmlns:a16="http://schemas.microsoft.com/office/drawing/2014/main" id="{51FEA6A1-D894-4382-9BAC-D7AA16EB7D84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670333" y="1336459"/>
            <a:ext cx="594360" cy="594360"/>
          </a:xfrm>
          <a:prstGeom prst="rect">
            <a:avLst/>
          </a:prstGeom>
        </p:spPr>
      </p:pic>
      <p:pic>
        <p:nvPicPr>
          <p:cNvPr id="2058" name="Graphic 2057" descr="Connected">
            <a:extLst>
              <a:ext uri="{FF2B5EF4-FFF2-40B4-BE49-F238E27FC236}">
                <a16:creationId xmlns:a16="http://schemas.microsoft.com/office/drawing/2014/main" id="{68B92C52-8186-49C3-9C71-103CA742503D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942377" y="2670598"/>
            <a:ext cx="594360" cy="594360"/>
          </a:xfrm>
          <a:prstGeom prst="rect">
            <a:avLst/>
          </a:prstGeom>
        </p:spPr>
      </p:pic>
      <p:pic>
        <p:nvPicPr>
          <p:cNvPr id="2060" name="Graphic 2059" descr="Document">
            <a:extLst>
              <a:ext uri="{FF2B5EF4-FFF2-40B4-BE49-F238E27FC236}">
                <a16:creationId xmlns:a16="http://schemas.microsoft.com/office/drawing/2014/main" id="{8EEE1083-00AB-46A8-AB7A-94E0850DAD46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7677264" y="1240321"/>
            <a:ext cx="594360" cy="594360"/>
          </a:xfrm>
          <a:prstGeom prst="rect">
            <a:avLst/>
          </a:prstGeom>
        </p:spPr>
      </p:pic>
      <p:pic>
        <p:nvPicPr>
          <p:cNvPr id="2061" name="Picture 4" descr="Snowflake, Redshift, BigQuery, Synapse ...">
            <a:extLst>
              <a:ext uri="{FF2B5EF4-FFF2-40B4-BE49-F238E27FC236}">
                <a16:creationId xmlns:a16="http://schemas.microsoft.com/office/drawing/2014/main" id="{4BD157E4-50DC-4C46-B64A-40E8B3884BA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7276"/>
          <a:stretch/>
        </p:blipFill>
        <p:spPr bwMode="auto">
          <a:xfrm>
            <a:off x="7061055" y="2336200"/>
            <a:ext cx="1549529" cy="734597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333641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3DA38DDF-43C5-4B14-AB08-45802B2E266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52234384"/>
              </p:ext>
            </p:extLst>
          </p:nvPr>
        </p:nvGraphicFramePr>
        <p:xfrm>
          <a:off x="447657" y="1181583"/>
          <a:ext cx="8546443" cy="31394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550376">
                  <a:extLst>
                    <a:ext uri="{9D8B030D-6E8A-4147-A177-3AD203B41FA5}">
                      <a16:colId xmlns:a16="http://schemas.microsoft.com/office/drawing/2014/main" val="893059608"/>
                    </a:ext>
                  </a:extLst>
                </a:gridCol>
                <a:gridCol w="2263515">
                  <a:extLst>
                    <a:ext uri="{9D8B030D-6E8A-4147-A177-3AD203B41FA5}">
                      <a16:colId xmlns:a16="http://schemas.microsoft.com/office/drawing/2014/main" val="3337704992"/>
                    </a:ext>
                  </a:extLst>
                </a:gridCol>
                <a:gridCol w="389744">
                  <a:extLst>
                    <a:ext uri="{9D8B030D-6E8A-4147-A177-3AD203B41FA5}">
                      <a16:colId xmlns:a16="http://schemas.microsoft.com/office/drawing/2014/main" val="2829848696"/>
                    </a:ext>
                  </a:extLst>
                </a:gridCol>
                <a:gridCol w="3342808">
                  <a:extLst>
                    <a:ext uri="{9D8B030D-6E8A-4147-A177-3AD203B41FA5}">
                      <a16:colId xmlns:a16="http://schemas.microsoft.com/office/drawing/2014/main" val="4243480325"/>
                    </a:ext>
                  </a:extLst>
                </a:gridCol>
              </a:tblGrid>
              <a:tr h="318742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Traditional SaaS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 gridSpan="3">
                  <a:txBody>
                    <a:bodyPr/>
                    <a:lstStyle/>
                    <a:p>
                      <a:r>
                        <a:rPr lang="en-US" b="1" dirty="0" err="1">
                          <a:solidFill>
                            <a:schemeClr val="bg1"/>
                          </a:solidFill>
                        </a:rPr>
                        <a:t>FlowForge</a:t>
                      </a:r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 Model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3C5E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3C5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0630169"/>
                  </a:ext>
                </a:extLst>
              </a:tr>
              <a:tr h="602523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✗</a:t>
                      </a:r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Data leaves your environment</a:t>
                      </a:r>
                      <a:endParaRPr lang="en-US" dirty="0">
                        <a:solidFill>
                          <a:schemeClr val="tx1"/>
                        </a:solidFill>
                        <a:latin typeface="Aptos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kern="1200" dirty="0">
                          <a:solidFill>
                            <a:srgbClr val="00B05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✓</a:t>
                      </a:r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Data stays in YOUR cloud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3">
                  <a:txBody>
                    <a:bodyPr/>
                    <a:lstStyle/>
                    <a:p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Security Features</a:t>
                      </a:r>
                    </a:p>
                  </a:txBody>
                  <a:tcPr vert="vert27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3C5E9"/>
                    </a:solidFill>
                  </a:tcPr>
                </a:tc>
                <a:tc rowSpan="3">
                  <a:txBody>
                    <a:bodyPr/>
                    <a:lstStyle/>
                    <a:p>
                      <a:r>
                        <a:rPr lang="en-US" sz="16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Data Residency:</a:t>
                      </a:r>
                      <a:r>
                        <a:rPr lang="en-US" sz="16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All data in your S3/ADLS/GCS</a:t>
                      </a:r>
                    </a:p>
                    <a:p>
                      <a:r>
                        <a:rPr lang="en-US" sz="16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Identity:</a:t>
                      </a:r>
                      <a:r>
                        <a:rPr lang="en-US" sz="16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IAM/Key Vault integration, RBAC</a:t>
                      </a:r>
                    </a:p>
                    <a:p>
                      <a:r>
                        <a:rPr lang="en-US" sz="16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Encryption:</a:t>
                      </a:r>
                      <a:r>
                        <a:rPr lang="en-US" sz="16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KMS/CMK, customer-managed keys</a:t>
                      </a:r>
                    </a:p>
                    <a:p>
                      <a:r>
                        <a:rPr lang="en-US" sz="16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Network:</a:t>
                      </a:r>
                      <a:r>
                        <a:rPr lang="en-US" sz="16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Private VPC, no public access required</a:t>
                      </a:r>
                    </a:p>
                    <a:p>
                      <a:r>
                        <a:rPr lang="en-US" sz="16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Audit:</a:t>
                      </a:r>
                      <a:r>
                        <a:rPr lang="en-US" sz="16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Full logging, immutable Bronze layer</a:t>
                      </a:r>
                    </a:p>
                    <a:p>
                      <a:r>
                        <a:rPr lang="en-US" sz="16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Compliance:</a:t>
                      </a:r>
                      <a:r>
                        <a:rPr lang="en-US" sz="16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GDPR, HIPAA, SOX ready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32001123"/>
                  </a:ext>
                </a:extLst>
              </a:tr>
              <a:tr h="962518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✗</a:t>
                      </a:r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Vendor controls infrastructure</a:t>
                      </a:r>
                      <a:endParaRPr lang="en-US" dirty="0">
                        <a:solidFill>
                          <a:schemeClr val="tx1"/>
                        </a:solidFill>
                        <a:latin typeface="Aptos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kern="1200" dirty="0">
                          <a:solidFill>
                            <a:srgbClr val="00B05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✓</a:t>
                      </a:r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You control everything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8871672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✗ </a:t>
                      </a:r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Lock-in risk</a:t>
                      </a:r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endParaRPr lang="en-US" dirty="0">
                        <a:solidFill>
                          <a:schemeClr val="tx1"/>
                        </a:solidFill>
                        <a:latin typeface="Aptos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kern="1200" dirty="0">
                          <a:solidFill>
                            <a:srgbClr val="00B05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✓</a:t>
                      </a:r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No lock-in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21586184"/>
                  </a:ext>
                </a:extLst>
              </a:tr>
            </a:tbl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5D5EB9C7-96C6-476A-B023-F977213C84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9823" y="164892"/>
            <a:ext cx="1244184" cy="56243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B88B997-21FE-4D20-8260-B325D8B3F1A2}"/>
              </a:ext>
            </a:extLst>
          </p:cNvPr>
          <p:cNvSpPr txBox="1"/>
          <p:nvPr/>
        </p:nvSpPr>
        <p:spPr>
          <a:xfrm>
            <a:off x="382831" y="769791"/>
            <a:ext cx="21327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Product Comparison</a:t>
            </a:r>
          </a:p>
        </p:txBody>
      </p:sp>
    </p:spTree>
    <p:extLst>
      <p:ext uri="{BB962C8B-B14F-4D97-AF65-F5344CB8AC3E}">
        <p14:creationId xmlns:p14="http://schemas.microsoft.com/office/powerpoint/2010/main" val="1868467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3DA38DDF-43C5-4B14-AB08-45802B2E266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26856456"/>
              </p:ext>
            </p:extLst>
          </p:nvPr>
        </p:nvGraphicFramePr>
        <p:xfrm>
          <a:off x="382830" y="1211563"/>
          <a:ext cx="8566300" cy="359653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655832">
                  <a:extLst>
                    <a:ext uri="{9D8B030D-6E8A-4147-A177-3AD203B41FA5}">
                      <a16:colId xmlns:a16="http://schemas.microsoft.com/office/drawing/2014/main" val="3375512308"/>
                    </a:ext>
                  </a:extLst>
                </a:gridCol>
                <a:gridCol w="2627318">
                  <a:extLst>
                    <a:ext uri="{9D8B030D-6E8A-4147-A177-3AD203B41FA5}">
                      <a16:colId xmlns:a16="http://schemas.microsoft.com/office/drawing/2014/main" val="893059608"/>
                    </a:ext>
                  </a:extLst>
                </a:gridCol>
                <a:gridCol w="2141575">
                  <a:extLst>
                    <a:ext uri="{9D8B030D-6E8A-4147-A177-3AD203B41FA5}">
                      <a16:colId xmlns:a16="http://schemas.microsoft.com/office/drawing/2014/main" val="3337704992"/>
                    </a:ext>
                  </a:extLst>
                </a:gridCol>
                <a:gridCol w="2141575">
                  <a:extLst>
                    <a:ext uri="{9D8B030D-6E8A-4147-A177-3AD203B41FA5}">
                      <a16:colId xmlns:a16="http://schemas.microsoft.com/office/drawing/2014/main" val="47889779"/>
                    </a:ext>
                  </a:extLst>
                </a:gridCol>
              </a:tblGrid>
              <a:tr h="351690">
                <a:tc>
                  <a:txBody>
                    <a:bodyPr/>
                    <a:lstStyle/>
                    <a:p>
                      <a:r>
                        <a:rPr lang="en-US" b="1" dirty="0"/>
                        <a:t>Use Case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Before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After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3C5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Impact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0630169"/>
                  </a:ext>
                </a:extLst>
              </a:tr>
              <a:tr h="69743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Financial Close </a:t>
                      </a:r>
                      <a:endParaRPr lang="en-US" dirty="0">
                        <a:latin typeface="Aptos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50+ Excel files, 3 days manual consolidation </a:t>
                      </a:r>
                      <a:endParaRPr lang="en-US" dirty="0">
                        <a:solidFill>
                          <a:schemeClr val="bg1"/>
                        </a:solidFill>
                        <a:latin typeface="Aptos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Pattern matching + AI = 30 minutes 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3C5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90% Time Savings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32001123"/>
                  </a:ext>
                </a:extLst>
              </a:tr>
              <a:tr h="749508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kern="1200" dirty="0">
                          <a:effectLst/>
                        </a:rPr>
                        <a:t>Partner Integration </a:t>
                      </a:r>
                      <a:endParaRPr lang="en-US" dirty="0">
                        <a:latin typeface="Aptos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kern="1200" dirty="0">
                          <a:solidFill>
                            <a:schemeClr val="bg1"/>
                          </a:solidFill>
                          <a:effectLst/>
                        </a:rPr>
                        <a:t>20+ partners, 2 hours to configure each</a:t>
                      </a:r>
                      <a:endParaRPr lang="en-US" dirty="0">
                        <a:solidFill>
                          <a:schemeClr val="bg1"/>
                        </a:solidFill>
                        <a:latin typeface="Aptos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kern="1200" dirty="0">
                          <a:solidFill>
                            <a:schemeClr val="bg1"/>
                          </a:solidFill>
                          <a:effectLst/>
                        </a:rPr>
                        <a:t>AI detects schema in 3 seconds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3C5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Instant Onboarding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88716729"/>
                  </a:ext>
                </a:extLst>
              </a:tr>
              <a:tr h="86943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kern="1200" dirty="0">
                          <a:effectLst/>
                        </a:rPr>
                        <a:t>Marketing Analytics </a:t>
                      </a:r>
                      <a:endParaRPr lang="en-US" dirty="0">
                        <a:latin typeface="Aptos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kern="1200" dirty="0">
                          <a:solidFill>
                            <a:schemeClr val="bg1"/>
                          </a:solidFill>
                          <a:effectLst/>
                        </a:rPr>
                        <a:t>Wait 1 week for engineer to build pipeline </a:t>
                      </a:r>
                      <a:endParaRPr lang="en-US" dirty="0">
                        <a:solidFill>
                          <a:schemeClr val="bg1"/>
                        </a:solidFill>
                        <a:latin typeface="Aptos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kern="1200" dirty="0">
                          <a:solidFill>
                            <a:schemeClr val="bg1"/>
                          </a:solidFill>
                          <a:effectLst/>
                        </a:rPr>
                        <a:t>Analyst builds in 5 minutes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3C5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kern="1200" dirty="0">
                          <a:solidFill>
                            <a:schemeClr val="bg1"/>
                          </a:solidFill>
                          <a:effectLst/>
                        </a:rPr>
                        <a:t>Zero engineering dependency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21586184"/>
                  </a:ext>
                </a:extLst>
              </a:tr>
              <a:tr h="674557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kern="1200" dirty="0">
                          <a:effectLst/>
                        </a:rPr>
                        <a:t>Compliance</a:t>
                      </a:r>
                      <a:endParaRPr lang="en-US" dirty="0">
                        <a:latin typeface="Aptos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kern="1200" dirty="0">
                          <a:solidFill>
                            <a:schemeClr val="bg1"/>
                          </a:solidFill>
                          <a:effectLst/>
                        </a:rPr>
                        <a:t>Data must stay in specific region </a:t>
                      </a:r>
                      <a:endParaRPr lang="en-US" dirty="0">
                        <a:solidFill>
                          <a:schemeClr val="bg1"/>
                        </a:solidFill>
                        <a:latin typeface="Aptos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kern="1200" dirty="0" err="1">
                          <a:solidFill>
                            <a:schemeClr val="bg1"/>
                          </a:solidFill>
                          <a:effectLst/>
                        </a:rPr>
                        <a:t>FlowForge</a:t>
                      </a:r>
                      <a:r>
                        <a:rPr lang="en-US" sz="1800" kern="1200" dirty="0">
                          <a:solidFill>
                            <a:schemeClr val="bg1"/>
                          </a:solidFill>
                          <a:effectLst/>
                        </a:rPr>
                        <a:t> runs in YOUR cloud account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3C5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kern="1200" dirty="0">
                          <a:solidFill>
                            <a:schemeClr val="bg1"/>
                          </a:solidFill>
                          <a:effectLst/>
                        </a:rPr>
                        <a:t>Full data sovereignty, audit-ready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24854459"/>
                  </a:ext>
                </a:extLst>
              </a:tr>
            </a:tbl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5D5EB9C7-96C6-476A-B023-F977213C84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9823" y="164892"/>
            <a:ext cx="1244184" cy="56243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B88B997-21FE-4D20-8260-B325D8B3F1A2}"/>
              </a:ext>
            </a:extLst>
          </p:cNvPr>
          <p:cNvSpPr txBox="1"/>
          <p:nvPr/>
        </p:nvSpPr>
        <p:spPr>
          <a:xfrm>
            <a:off x="269823" y="775083"/>
            <a:ext cx="22955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err="1"/>
              <a:t>FlowForge</a:t>
            </a:r>
            <a:r>
              <a:rPr lang="en-US" b="1" dirty="0"/>
              <a:t> Credentials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9A85D8B-64BF-4856-B979-677A477AAFD4}"/>
              </a:ext>
            </a:extLst>
          </p:cNvPr>
          <p:cNvSpPr/>
          <p:nvPr/>
        </p:nvSpPr>
        <p:spPr>
          <a:xfrm>
            <a:off x="682635" y="5103674"/>
            <a:ext cx="7397070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b="1" dirty="0"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Database Connectors</a:t>
            </a:r>
            <a:r>
              <a:rPr lang="en-US" dirty="0"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 Direct connections to MySQL, PostgreSQL, SQL Server, Oracle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b="1" dirty="0"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Data Quality Rules</a:t>
            </a:r>
            <a:r>
              <a:rPr lang="en-US" dirty="0"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 Automated validation: “email not null”, “amount &gt; 0”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b="1" dirty="0"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Incremental Loading</a:t>
            </a:r>
            <a:r>
              <a:rPr lang="en-US" dirty="0"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 Process only changed records (hours → minutes)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b="1" dirty="0"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Transformation Engine</a:t>
            </a:r>
            <a:r>
              <a:rPr lang="en-US" dirty="0"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 Visual business logic builder (no SQL required)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b="1" dirty="0"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Data Reconciliation</a:t>
            </a:r>
            <a:r>
              <a:rPr lang="en-US" dirty="0"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 Automated source-to-destination verification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4251484-3920-4D99-8FC2-E7C86DCF6164}"/>
              </a:ext>
            </a:extLst>
          </p:cNvPr>
          <p:cNvSpPr txBox="1"/>
          <p:nvPr/>
        </p:nvSpPr>
        <p:spPr>
          <a:xfrm>
            <a:off x="269823" y="4808095"/>
            <a:ext cx="25162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Upcoming New Features</a:t>
            </a:r>
          </a:p>
        </p:txBody>
      </p:sp>
    </p:spTree>
    <p:extLst>
      <p:ext uri="{BB962C8B-B14F-4D97-AF65-F5344CB8AC3E}">
        <p14:creationId xmlns:p14="http://schemas.microsoft.com/office/powerpoint/2010/main" val="418805687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141</TotalTime>
  <Words>478</Words>
  <Application>Microsoft Office PowerPoint</Application>
  <PresentationFormat>On-screen Show (4:3)</PresentationFormat>
  <Paragraphs>80</Paragraphs>
  <Slides>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12" baseType="lpstr">
      <vt:lpstr>Aptos</vt:lpstr>
      <vt:lpstr>Aptos Display</vt:lpstr>
      <vt:lpstr>Arial</vt:lpstr>
      <vt:lpstr>Calibri</vt:lpstr>
      <vt:lpstr>Montserrat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Problem - Data Pipeline Bottlenecks</dc:title>
  <dc:subject/>
  <dc:creator/>
  <cp:keywords/>
  <dc:description>generated using python-pptx</dc:description>
  <cp:lastModifiedBy>Chaitanya Prabhu</cp:lastModifiedBy>
  <cp:revision>14</cp:revision>
  <dcterms:created xsi:type="dcterms:W3CDTF">2013-01-27T09:14:16Z</dcterms:created>
  <dcterms:modified xsi:type="dcterms:W3CDTF">2025-10-31T13:48:29Z</dcterms:modified>
  <cp:category/>
</cp:coreProperties>
</file>